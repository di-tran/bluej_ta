
<file path=[Content_Types].xml><?xml version="1.0" encoding="utf-8"?>
<Types xmlns="http://schemas.openxmlformats.org/package/2006/content-types">
  <Default Extension="xml" ContentType="application/xml"/>
  <Default Extension="rels" ContentType="application/vnd.openxmlformats-package.relationships+xml"/>
  <Default Extension="bin" ContentType="application/vnd.openxmlformats-officedocument.presentationml.printerSettings"/>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comment2.xml" ContentType="application/vnd.openxmlformats-officedocument.presentationml.comment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9"/>
  </p:notesMasterIdLst>
  <p:sldIdLst>
    <p:sldId id="256" r:id="rId2"/>
    <p:sldId id="258" r:id="rId3"/>
    <p:sldId id="262" r:id="rId4"/>
    <p:sldId id="264" r:id="rId5"/>
    <p:sldId id="263" r:id="rId6"/>
    <p:sldId id="267" r:id="rId7"/>
    <p:sldId id="266" r:id="rId8"/>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Huang" initials="" lastIdx="5" clrIdx="0"/>
  <p:cmAuthor id="1" name="Di Tran"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80" d="100"/>
          <a:sy n="180" d="100"/>
        </p:scale>
        <p:origin x="-120" y="-136"/>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interSettings" Target="printerSettings/printerSettings1.bin"/></Relationships>
</file>

<file path=ppt/comments/comment1.xml><?xml version="1.0" encoding="utf-8"?>
<p:cmLst xmlns:a="http://schemas.openxmlformats.org/drawingml/2006/main" xmlns:r="http://schemas.openxmlformats.org/officeDocument/2006/relationships" xmlns:p="http://schemas.openxmlformats.org/presentationml/2006/main">
  <p:cm authorId="1" idx="2">
    <p:pos x="6000" y="0"/>
    <p:text>Excellent slide!</p:text>
  </p:cm>
  <p:cm authorId="0" idx="4">
    <p:pos x="6000" y="100"/>
    <p:text>Thanks!</p:text>
  </p:cm>
</p:cmLst>
</file>

<file path=ppt/comments/comment2.xml><?xml version="1.0" encoding="utf-8"?>
<p:cmLst xmlns:a="http://schemas.openxmlformats.org/drawingml/2006/main" xmlns:r="http://schemas.openxmlformats.org/officeDocument/2006/relationships" xmlns:p="http://schemas.openxmlformats.org/presentationml/2006/main">
  <p:cm authorId="0" idx="2">
    <p:pos x="6000" y="0"/>
    <p:text>accidentally deleted Di's comment regarding the switching of slides 9 and 10.
In reply to that:
I think it depends. Since this is our last slide, it's also going to be the one that's on screen the longest. Do we want our vision statement to be show at the end or the call to action?
I'm fine with either way.</p:text>
  </p:cm>
  <p:cm authorId="1" idx="1">
    <p:pos x="6000" y="100"/>
    <p:text>Hm, at least in my opinion, we're not here to brag about our vision statement, but to encourage others to use vision statements to resolve conflict.</p:text>
  </p:cm>
  <p:cm authorId="0" idx="3">
    <p:pos x="6000" y="200"/>
    <p:text>True, it would fit the key message better if this was slide 9. I'll go ahead and move it.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381187" y="685800"/>
            <a:ext cx="6096299"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3" name="Shape 3"/>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a:endParaRPr/>
          </a:p>
        </p:txBody>
      </p:sp>
    </p:spTree>
    <p:extLst>
      <p:ext uri="{BB962C8B-B14F-4D97-AF65-F5344CB8AC3E}">
        <p14:creationId xmlns:p14="http://schemas.microsoft.com/office/powerpoint/2010/main" val="2837208840"/>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Shape 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34" name="Shape 3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Shape 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46" name="Shape 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r>
              <a:rPr lang="en-US" dirty="0" smtClean="0"/>
              <a:t>Define “fit”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82" name="Shape 8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76" name="Shape 7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8"/>
        <p:cNvGrpSpPr/>
        <p:nvPr/>
      </p:nvGrpSpPr>
      <p:grpSpPr>
        <a:xfrm>
          <a:off x="0" y="0"/>
          <a:ext cx="0" cy="0"/>
          <a:chOff x="0" y="0"/>
          <a:chExt cx="0" cy="0"/>
        </a:xfrm>
      </p:grpSpPr>
      <p:sp>
        <p:nvSpPr>
          <p:cNvPr id="9" name="Shape 9"/>
          <p:cNvSpPr txBox="1">
            <a:spLocks noGrp="1"/>
          </p:cNvSpPr>
          <p:nvPr>
            <p:ph type="ctrTitle"/>
          </p:nvPr>
        </p:nvSpPr>
        <p:spPr>
          <a:xfrm>
            <a:off x="685800" y="1583342"/>
            <a:ext cx="7772400" cy="1159856"/>
          </a:xfrm>
          <a:prstGeom prst="rect">
            <a:avLst/>
          </a:prstGeom>
        </p:spPr>
        <p:txBody>
          <a:bodyPr lIns="91425" tIns="91425" rIns="91425" bIns="91425" anchor="b" anchorCtr="0"/>
          <a:lstStyle>
            <a:lvl1pPr algn="ctr">
              <a:spcBef>
                <a:spcPts val="0"/>
              </a:spcBef>
              <a:buSzPct val="100000"/>
              <a:defRPr sz="4800"/>
            </a:lvl1pPr>
            <a:lvl2pPr algn="ctr">
              <a:spcBef>
                <a:spcPts val="0"/>
              </a:spcBef>
              <a:buSzPct val="100000"/>
              <a:defRPr sz="4800"/>
            </a:lvl2pPr>
            <a:lvl3pPr algn="ctr">
              <a:spcBef>
                <a:spcPts val="0"/>
              </a:spcBef>
              <a:buSzPct val="100000"/>
              <a:defRPr sz="4800"/>
            </a:lvl3pPr>
            <a:lvl4pPr algn="ctr">
              <a:spcBef>
                <a:spcPts val="0"/>
              </a:spcBef>
              <a:buSzPct val="100000"/>
              <a:defRPr sz="4800"/>
            </a:lvl4pPr>
            <a:lvl5pPr algn="ctr">
              <a:spcBef>
                <a:spcPts val="0"/>
              </a:spcBef>
              <a:buSzPct val="100000"/>
              <a:defRPr sz="4800"/>
            </a:lvl5pPr>
            <a:lvl6pPr algn="ctr">
              <a:spcBef>
                <a:spcPts val="0"/>
              </a:spcBef>
              <a:buSzPct val="100000"/>
              <a:defRPr sz="4800"/>
            </a:lvl6pPr>
            <a:lvl7pPr algn="ctr">
              <a:spcBef>
                <a:spcPts val="0"/>
              </a:spcBef>
              <a:buSzPct val="100000"/>
              <a:defRPr sz="4800"/>
            </a:lvl7pPr>
            <a:lvl8pPr algn="ctr">
              <a:spcBef>
                <a:spcPts val="0"/>
              </a:spcBef>
              <a:buSzPct val="100000"/>
              <a:defRPr sz="4800"/>
            </a:lvl8pPr>
            <a:lvl9pPr algn="ctr">
              <a:spcBef>
                <a:spcPts val="0"/>
              </a:spcBef>
              <a:buSzPct val="100000"/>
              <a:defRPr sz="4800"/>
            </a:lvl9pPr>
          </a:lstStyle>
          <a:p>
            <a:endParaRPr/>
          </a:p>
        </p:txBody>
      </p:sp>
      <p:sp>
        <p:nvSpPr>
          <p:cNvPr id="10" name="Shape 10"/>
          <p:cNvSpPr txBox="1">
            <a:spLocks noGrp="1"/>
          </p:cNvSpPr>
          <p:nvPr>
            <p:ph type="subTitle" idx="1"/>
          </p:nvPr>
        </p:nvSpPr>
        <p:spPr>
          <a:xfrm>
            <a:off x="685800" y="2840053"/>
            <a:ext cx="7772400" cy="784737"/>
          </a:xfrm>
          <a:prstGeom prst="rect">
            <a:avLst/>
          </a:prstGeom>
        </p:spPr>
        <p:txBody>
          <a:bodyPr lIns="91425" tIns="91425" rIns="91425" bIns="91425" anchor="t" anchorCtr="0"/>
          <a:lstStyle>
            <a:lvl1pPr algn="ctr">
              <a:spcBef>
                <a:spcPts val="0"/>
              </a:spcBef>
              <a:buClr>
                <a:schemeClr val="dk2"/>
              </a:buClr>
              <a:buNone/>
              <a:defRPr>
                <a:solidFill>
                  <a:schemeClr val="dk2"/>
                </a:solidFill>
              </a:defRPr>
            </a:lvl1pPr>
            <a:lvl2pPr algn="ctr">
              <a:spcBef>
                <a:spcPts val="0"/>
              </a:spcBef>
              <a:buClr>
                <a:schemeClr val="dk2"/>
              </a:buClr>
              <a:buSzPct val="100000"/>
              <a:buNone/>
              <a:defRPr sz="3000">
                <a:solidFill>
                  <a:schemeClr val="dk2"/>
                </a:solidFill>
              </a:defRPr>
            </a:lvl2pPr>
            <a:lvl3pPr algn="ctr">
              <a:spcBef>
                <a:spcPts val="0"/>
              </a:spcBef>
              <a:buClr>
                <a:schemeClr val="dk2"/>
              </a:buClr>
              <a:buSzPct val="100000"/>
              <a:buNone/>
              <a:defRPr sz="3000">
                <a:solidFill>
                  <a:schemeClr val="dk2"/>
                </a:solidFill>
              </a:defRPr>
            </a:lvl3pPr>
            <a:lvl4pPr algn="ctr">
              <a:spcBef>
                <a:spcPts val="0"/>
              </a:spcBef>
              <a:buClr>
                <a:schemeClr val="dk2"/>
              </a:buClr>
              <a:buSzPct val="100000"/>
              <a:buNone/>
              <a:defRPr sz="3000">
                <a:solidFill>
                  <a:schemeClr val="dk2"/>
                </a:solidFill>
              </a:defRPr>
            </a:lvl4pPr>
            <a:lvl5pPr algn="ctr">
              <a:spcBef>
                <a:spcPts val="0"/>
              </a:spcBef>
              <a:buClr>
                <a:schemeClr val="dk2"/>
              </a:buClr>
              <a:buSzPct val="100000"/>
              <a:buNone/>
              <a:defRPr sz="3000">
                <a:solidFill>
                  <a:schemeClr val="dk2"/>
                </a:solidFill>
              </a:defRPr>
            </a:lvl5pPr>
            <a:lvl6pPr algn="ctr">
              <a:spcBef>
                <a:spcPts val="0"/>
              </a:spcBef>
              <a:buClr>
                <a:schemeClr val="dk2"/>
              </a:buClr>
              <a:buSzPct val="100000"/>
              <a:buNone/>
              <a:defRPr sz="3000">
                <a:solidFill>
                  <a:schemeClr val="dk2"/>
                </a:solidFill>
              </a:defRPr>
            </a:lvl6pPr>
            <a:lvl7pPr algn="ctr">
              <a:spcBef>
                <a:spcPts val="0"/>
              </a:spcBef>
              <a:buClr>
                <a:schemeClr val="dk2"/>
              </a:buClr>
              <a:buSzPct val="100000"/>
              <a:buNone/>
              <a:defRPr sz="3000">
                <a:solidFill>
                  <a:schemeClr val="dk2"/>
                </a:solidFill>
              </a:defRPr>
            </a:lvl7pPr>
            <a:lvl8pPr algn="ctr">
              <a:spcBef>
                <a:spcPts val="0"/>
              </a:spcBef>
              <a:buClr>
                <a:schemeClr val="dk2"/>
              </a:buClr>
              <a:buSzPct val="100000"/>
              <a:buNone/>
              <a:defRPr sz="3000">
                <a:solidFill>
                  <a:schemeClr val="dk2"/>
                </a:solidFill>
              </a:defRPr>
            </a:lvl8pPr>
            <a:lvl9pPr algn="ctr">
              <a:spcBef>
                <a:spcPts val="0"/>
              </a:spcBef>
              <a:buClr>
                <a:schemeClr val="dk2"/>
              </a:buClr>
              <a:buSzPct val="100000"/>
              <a:buNone/>
              <a:defRPr sz="3000">
                <a:solidFill>
                  <a:schemeClr val="dk2"/>
                </a:solidFill>
              </a:defRPr>
            </a:lvl9pPr>
          </a:lstStyle>
          <a:p>
            <a:endParaRPr/>
          </a:p>
        </p:txBody>
      </p:sp>
      <p:sp>
        <p:nvSpPr>
          <p:cNvPr id="11" name="Shape 11"/>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2"/>
        <p:cNvGrpSpPr/>
        <p:nvPr/>
      </p:nvGrpSpPr>
      <p:grpSpPr>
        <a:xfrm>
          <a:off x="0" y="0"/>
          <a:ext cx="0" cy="0"/>
          <a:chOff x="0" y="0"/>
          <a:chExt cx="0" cy="0"/>
        </a:xfrm>
      </p:grpSpPr>
      <p:sp>
        <p:nvSpPr>
          <p:cNvPr id="13" name="Shape 13"/>
          <p:cNvSpPr txBox="1">
            <a:spLocks noGrp="1"/>
          </p:cNvSpPr>
          <p:nvPr>
            <p:ph type="title"/>
          </p:nvPr>
        </p:nvSpPr>
        <p:spPr>
          <a:xfrm>
            <a:off x="457200" y="205978"/>
            <a:ext cx="8229600" cy="85725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4" name="Shape 14"/>
          <p:cNvSpPr txBox="1">
            <a:spLocks noGrp="1"/>
          </p:cNvSpPr>
          <p:nvPr>
            <p:ph type="body" idx="1"/>
          </p:nvPr>
        </p:nvSpPr>
        <p:spPr>
          <a:xfrm>
            <a:off x="457200" y="1200150"/>
            <a:ext cx="8229600" cy="372568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5" name="Shape 15"/>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57200" y="205978"/>
            <a:ext cx="8229600" cy="85725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8" name="Shape 18"/>
          <p:cNvSpPr txBox="1">
            <a:spLocks noGrp="1"/>
          </p:cNvSpPr>
          <p:nvPr>
            <p:ph type="body" idx="1"/>
          </p:nvPr>
        </p:nvSpPr>
        <p:spPr>
          <a:xfrm>
            <a:off x="457200" y="1200150"/>
            <a:ext cx="3994525" cy="372568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9" name="Shape 19"/>
          <p:cNvSpPr txBox="1">
            <a:spLocks noGrp="1"/>
          </p:cNvSpPr>
          <p:nvPr>
            <p:ph type="body" idx="2"/>
          </p:nvPr>
        </p:nvSpPr>
        <p:spPr>
          <a:xfrm>
            <a:off x="4692273" y="1200150"/>
            <a:ext cx="3994525" cy="3725680"/>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0" name="Shape 20"/>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457200" y="205978"/>
            <a:ext cx="8229600" cy="85725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23" name="Shape 23"/>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aption">
    <p:spTree>
      <p:nvGrpSpPr>
        <p:cNvPr id="1" name="Shape 24"/>
        <p:cNvGrpSpPr/>
        <p:nvPr/>
      </p:nvGrpSpPr>
      <p:grpSpPr>
        <a:xfrm>
          <a:off x="0" y="0"/>
          <a:ext cx="0" cy="0"/>
          <a:chOff x="0" y="0"/>
          <a:chExt cx="0" cy="0"/>
        </a:xfrm>
      </p:grpSpPr>
      <p:sp>
        <p:nvSpPr>
          <p:cNvPr id="25" name="Shape 25"/>
          <p:cNvSpPr txBox="1">
            <a:spLocks noGrp="1"/>
          </p:cNvSpPr>
          <p:nvPr>
            <p:ph type="body" idx="1"/>
          </p:nvPr>
        </p:nvSpPr>
        <p:spPr>
          <a:xfrm>
            <a:off x="457200" y="4406309"/>
            <a:ext cx="8229600" cy="519520"/>
          </a:xfrm>
          <a:prstGeom prst="rect">
            <a:avLst/>
          </a:prstGeom>
        </p:spPr>
        <p:txBody>
          <a:bodyPr lIns="91425" tIns="91425" rIns="91425" bIns="91425" anchor="t" anchorCtr="0"/>
          <a:lstStyle>
            <a:lvl1pPr algn="ctr">
              <a:spcBef>
                <a:spcPts val="360"/>
              </a:spcBef>
              <a:buSzPct val="100000"/>
              <a:buNone/>
              <a:defRPr sz="1800"/>
            </a:lvl1pPr>
          </a:lstStyle>
          <a:p>
            <a:endParaRPr/>
          </a:p>
        </p:txBody>
      </p:sp>
      <p:sp>
        <p:nvSpPr>
          <p:cNvPr id="26" name="Shape 26"/>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27"/>
        <p:cNvGrpSpPr/>
        <p:nvPr/>
      </p:nvGrpSpPr>
      <p:grpSpPr>
        <a:xfrm>
          <a:off x="0" y="0"/>
          <a:ext cx="0" cy="0"/>
          <a:chOff x="0" y="0"/>
          <a:chExt cx="0" cy="0"/>
        </a:xfrm>
      </p:grpSpPr>
      <p:sp>
        <p:nvSpPr>
          <p:cNvPr id="28" name="Shape 28"/>
          <p:cNvSpPr txBox="1">
            <a:spLocks noGrp="1"/>
          </p:cNvSpPr>
          <p:nvPr>
            <p:ph type="sldNum" idx="12"/>
          </p:nvPr>
        </p:nvSpPr>
        <p:spPr>
          <a:xfrm>
            <a:off x="8556791" y="4749850"/>
            <a:ext cx="548699" cy="393524"/>
          </a:xfrm>
          <a:prstGeom prst="rect">
            <a:avLst/>
          </a:prstGeom>
        </p:spPr>
        <p:txBody>
          <a:bodyPr lIns="91425" tIns="91425" rIns="91425" bIns="91425" anchor="ctr" anchorCtr="0">
            <a:noAutofit/>
          </a:bodyPr>
          <a:lstStyle>
            <a:lvl1pPr>
              <a:spcBef>
                <a:spcPts val="0"/>
              </a:spcBef>
              <a:buNone/>
              <a:defRPr/>
            </a:lvl1pPr>
          </a:lstStyle>
          <a:p>
            <a:pPr>
              <a:spcBef>
                <a:spcPts val="0"/>
              </a:spcBef>
              <a:buNone/>
            </a:pPr>
            <a:fld id="{00000000-1234-1234-1234-123412341234}" type="slidenum">
              <a:rPr lang="en"/>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05978"/>
            <a:ext cx="8229600" cy="857250"/>
          </a:xfrm>
          <a:prstGeom prst="rect">
            <a:avLst/>
          </a:prstGeom>
          <a:noFill/>
          <a:ln>
            <a:noFill/>
          </a:ln>
        </p:spPr>
        <p:txBody>
          <a:bodyPr lIns="91425" tIns="91425" rIns="91425" bIns="91425" anchor="b" anchorCtr="0"/>
          <a:lstStyle>
            <a:lvl1pPr>
              <a:spcBef>
                <a:spcPts val="0"/>
              </a:spcBef>
              <a:buClr>
                <a:schemeClr val="dk1"/>
              </a:buClr>
              <a:buSzPct val="100000"/>
              <a:buNone/>
              <a:defRPr sz="3600" b="1">
                <a:solidFill>
                  <a:schemeClr val="dk1"/>
                </a:solidFill>
              </a:defRPr>
            </a:lvl1pPr>
            <a:lvl2pPr>
              <a:spcBef>
                <a:spcPts val="0"/>
              </a:spcBef>
              <a:buClr>
                <a:schemeClr val="dk1"/>
              </a:buClr>
              <a:buSzPct val="100000"/>
              <a:buNone/>
              <a:defRPr sz="3600" b="1">
                <a:solidFill>
                  <a:schemeClr val="dk1"/>
                </a:solidFill>
              </a:defRPr>
            </a:lvl2pPr>
            <a:lvl3pPr>
              <a:spcBef>
                <a:spcPts val="0"/>
              </a:spcBef>
              <a:buClr>
                <a:schemeClr val="dk1"/>
              </a:buClr>
              <a:buSzPct val="100000"/>
              <a:buNone/>
              <a:defRPr sz="3600" b="1">
                <a:solidFill>
                  <a:schemeClr val="dk1"/>
                </a:solidFill>
              </a:defRPr>
            </a:lvl3pPr>
            <a:lvl4pPr>
              <a:spcBef>
                <a:spcPts val="0"/>
              </a:spcBef>
              <a:buClr>
                <a:schemeClr val="dk1"/>
              </a:buClr>
              <a:buSzPct val="100000"/>
              <a:buNone/>
              <a:defRPr sz="3600" b="1">
                <a:solidFill>
                  <a:schemeClr val="dk1"/>
                </a:solidFill>
              </a:defRPr>
            </a:lvl4pPr>
            <a:lvl5pPr>
              <a:spcBef>
                <a:spcPts val="0"/>
              </a:spcBef>
              <a:buClr>
                <a:schemeClr val="dk1"/>
              </a:buClr>
              <a:buSzPct val="100000"/>
              <a:buNone/>
              <a:defRPr sz="3600" b="1">
                <a:solidFill>
                  <a:schemeClr val="dk1"/>
                </a:solidFill>
              </a:defRPr>
            </a:lvl5pPr>
            <a:lvl6pPr>
              <a:spcBef>
                <a:spcPts val="0"/>
              </a:spcBef>
              <a:buClr>
                <a:schemeClr val="dk1"/>
              </a:buClr>
              <a:buSzPct val="100000"/>
              <a:buNone/>
              <a:defRPr sz="3600" b="1">
                <a:solidFill>
                  <a:schemeClr val="dk1"/>
                </a:solidFill>
              </a:defRPr>
            </a:lvl6pPr>
            <a:lvl7pPr>
              <a:spcBef>
                <a:spcPts val="0"/>
              </a:spcBef>
              <a:buClr>
                <a:schemeClr val="dk1"/>
              </a:buClr>
              <a:buSzPct val="100000"/>
              <a:buNone/>
              <a:defRPr sz="3600" b="1">
                <a:solidFill>
                  <a:schemeClr val="dk1"/>
                </a:solidFill>
              </a:defRPr>
            </a:lvl7pPr>
            <a:lvl8pPr>
              <a:spcBef>
                <a:spcPts val="0"/>
              </a:spcBef>
              <a:buClr>
                <a:schemeClr val="dk1"/>
              </a:buClr>
              <a:buSzPct val="100000"/>
              <a:buNone/>
              <a:defRPr sz="3600" b="1">
                <a:solidFill>
                  <a:schemeClr val="dk1"/>
                </a:solidFill>
              </a:defRPr>
            </a:lvl8pPr>
            <a:lvl9pPr>
              <a:spcBef>
                <a:spcPts val="0"/>
              </a:spcBef>
              <a:buClr>
                <a:schemeClr val="dk1"/>
              </a:buClr>
              <a:buSzPct val="100000"/>
              <a:buNone/>
              <a:defRPr sz="3600" b="1">
                <a:solidFill>
                  <a:schemeClr val="dk1"/>
                </a:solidFill>
              </a:defRPr>
            </a:lvl9pPr>
          </a:lstStyle>
          <a:p>
            <a:endParaRPr/>
          </a:p>
        </p:txBody>
      </p:sp>
      <p:sp>
        <p:nvSpPr>
          <p:cNvPr id="6" name="Shape 6"/>
          <p:cNvSpPr txBox="1">
            <a:spLocks noGrp="1"/>
          </p:cNvSpPr>
          <p:nvPr>
            <p:ph type="body" idx="1"/>
          </p:nvPr>
        </p:nvSpPr>
        <p:spPr>
          <a:xfrm>
            <a:off x="457200" y="1200150"/>
            <a:ext cx="8229600" cy="3725680"/>
          </a:xfrm>
          <a:prstGeom prst="rect">
            <a:avLst/>
          </a:prstGeom>
          <a:noFill/>
          <a:ln>
            <a:noFill/>
          </a:ln>
        </p:spPr>
        <p:txBody>
          <a:bodyPr lIns="91425" tIns="91425" rIns="91425" bIns="91425" anchor="t" anchorCtr="0"/>
          <a:lstStyle>
            <a:lvl1pPr>
              <a:spcBef>
                <a:spcPts val="600"/>
              </a:spcBef>
              <a:buClr>
                <a:schemeClr val="dk1"/>
              </a:buClr>
              <a:buSzPct val="100000"/>
              <a:defRPr sz="3000">
                <a:solidFill>
                  <a:schemeClr val="dk1"/>
                </a:solidFill>
              </a:defRPr>
            </a:lvl1pPr>
            <a:lvl2pPr>
              <a:spcBef>
                <a:spcPts val="480"/>
              </a:spcBef>
              <a:buClr>
                <a:schemeClr val="dk1"/>
              </a:buClr>
              <a:buSzPct val="100000"/>
              <a:defRPr sz="2400">
                <a:solidFill>
                  <a:schemeClr val="dk1"/>
                </a:solidFill>
              </a:defRPr>
            </a:lvl2pPr>
            <a:lvl3pPr>
              <a:spcBef>
                <a:spcPts val="480"/>
              </a:spcBef>
              <a:buClr>
                <a:schemeClr val="dk1"/>
              </a:buClr>
              <a:buSzPct val="100000"/>
              <a:defRPr sz="2400">
                <a:solidFill>
                  <a:schemeClr val="dk1"/>
                </a:solidFill>
              </a:defRPr>
            </a:lvl3pPr>
            <a:lvl4pPr>
              <a:spcBef>
                <a:spcPts val="360"/>
              </a:spcBef>
              <a:buClr>
                <a:schemeClr val="dk1"/>
              </a:buClr>
              <a:buSzPct val="100000"/>
              <a:defRPr sz="1800">
                <a:solidFill>
                  <a:schemeClr val="dk1"/>
                </a:solidFill>
              </a:defRPr>
            </a:lvl4pPr>
            <a:lvl5pPr>
              <a:spcBef>
                <a:spcPts val="360"/>
              </a:spcBef>
              <a:buClr>
                <a:schemeClr val="dk1"/>
              </a:buClr>
              <a:buSzPct val="100000"/>
              <a:defRPr sz="1800">
                <a:solidFill>
                  <a:schemeClr val="dk1"/>
                </a:solidFill>
              </a:defRPr>
            </a:lvl5pPr>
            <a:lvl6pPr>
              <a:spcBef>
                <a:spcPts val="360"/>
              </a:spcBef>
              <a:buClr>
                <a:schemeClr val="dk1"/>
              </a:buClr>
              <a:buSzPct val="100000"/>
              <a:defRPr sz="1800">
                <a:solidFill>
                  <a:schemeClr val="dk1"/>
                </a:solidFill>
              </a:defRPr>
            </a:lvl6pPr>
            <a:lvl7pPr>
              <a:spcBef>
                <a:spcPts val="360"/>
              </a:spcBef>
              <a:buClr>
                <a:schemeClr val="dk1"/>
              </a:buClr>
              <a:buSzPct val="100000"/>
              <a:defRPr sz="1800">
                <a:solidFill>
                  <a:schemeClr val="dk1"/>
                </a:solidFill>
              </a:defRPr>
            </a:lvl7pPr>
            <a:lvl8pPr>
              <a:spcBef>
                <a:spcPts val="360"/>
              </a:spcBef>
              <a:buClr>
                <a:schemeClr val="dk1"/>
              </a:buClr>
              <a:buSzPct val="100000"/>
              <a:defRPr sz="1800">
                <a:solidFill>
                  <a:schemeClr val="dk1"/>
                </a:solidFill>
              </a:defRPr>
            </a:lvl8pPr>
            <a:lvl9pPr>
              <a:spcBef>
                <a:spcPts val="360"/>
              </a:spcBef>
              <a:buClr>
                <a:schemeClr val="dk1"/>
              </a:buClr>
              <a:buSzPct val="100000"/>
              <a:defRPr sz="1800">
                <a:solidFill>
                  <a:schemeClr val="dk1"/>
                </a:solidFill>
              </a:defRPr>
            </a:lvl9pPr>
          </a:lstStyle>
          <a:p>
            <a:endParaRPr/>
          </a:p>
        </p:txBody>
      </p:sp>
      <p:sp>
        <p:nvSpPr>
          <p:cNvPr id="7" name="Shape 7"/>
          <p:cNvSpPr txBox="1">
            <a:spLocks noGrp="1"/>
          </p:cNvSpPr>
          <p:nvPr>
            <p:ph type="sldNum" idx="12"/>
          </p:nvPr>
        </p:nvSpPr>
        <p:spPr>
          <a:xfrm>
            <a:off x="8556791" y="4749850"/>
            <a:ext cx="548699" cy="393524"/>
          </a:xfrm>
          <a:prstGeom prst="rect">
            <a:avLst/>
          </a:prstGeom>
          <a:noFill/>
          <a:ln>
            <a:noFill/>
          </a:ln>
        </p:spPr>
        <p:txBody>
          <a:bodyPr lIns="91425" tIns="91425" rIns="91425" bIns="91425" anchor="ctr" anchorCtr="0">
            <a:noAutofit/>
          </a:bodyPr>
          <a:lstStyle>
            <a:lvl1pPr algn="r">
              <a:spcBef>
                <a:spcPts val="0"/>
              </a:spcBef>
              <a:buNone/>
              <a:defRPr sz="1300">
                <a:solidFill>
                  <a:schemeClr val="dk1"/>
                </a:solidFill>
              </a:defRPr>
            </a:lvl1pPr>
          </a:lstStyle>
          <a:p>
            <a:pPr>
              <a:spcBef>
                <a:spcPts val="0"/>
              </a:spcBef>
              <a:buNone/>
            </a:pPr>
            <a:fld id="{00000000-1234-1234-1234-123412341234}" type="slidenum">
              <a:rPr lang="en"/>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Shape 30"/>
          <p:cNvSpPr txBox="1">
            <a:spLocks noGrp="1"/>
          </p:cNvSpPr>
          <p:nvPr>
            <p:ph type="ctrTitle"/>
          </p:nvPr>
        </p:nvSpPr>
        <p:spPr>
          <a:xfrm>
            <a:off x="685800" y="1583342"/>
            <a:ext cx="7772400" cy="1159856"/>
          </a:xfrm>
          <a:prstGeom prst="rect">
            <a:avLst/>
          </a:prstGeom>
        </p:spPr>
        <p:txBody>
          <a:bodyPr lIns="91425" tIns="91425" rIns="91425" bIns="91425" anchor="b" anchorCtr="0">
            <a:noAutofit/>
          </a:bodyPr>
          <a:lstStyle/>
          <a:p>
            <a:pPr>
              <a:spcBef>
                <a:spcPts val="0"/>
              </a:spcBef>
              <a:buNone/>
            </a:pPr>
            <a:r>
              <a:rPr lang="en" dirty="0"/>
              <a:t>Vision </a:t>
            </a:r>
            <a:r>
              <a:rPr lang="en-US" dirty="0" smtClean="0"/>
              <a:t>S</a:t>
            </a:r>
            <a:r>
              <a:rPr lang="en" dirty="0" smtClean="0"/>
              <a:t>tatements</a:t>
            </a:r>
            <a:endParaRPr lang="en" dirty="0"/>
          </a:p>
        </p:txBody>
      </p:sp>
      <p:sp>
        <p:nvSpPr>
          <p:cNvPr id="31" name="Shape 31"/>
          <p:cNvSpPr txBox="1">
            <a:spLocks noGrp="1"/>
          </p:cNvSpPr>
          <p:nvPr>
            <p:ph type="subTitle" idx="1"/>
          </p:nvPr>
        </p:nvSpPr>
        <p:spPr>
          <a:xfrm>
            <a:off x="685800" y="2840053"/>
            <a:ext cx="7772400" cy="784737"/>
          </a:xfrm>
          <a:prstGeom prst="rect">
            <a:avLst/>
          </a:prstGeom>
        </p:spPr>
        <p:txBody>
          <a:bodyPr lIns="91425" tIns="91425" rIns="91425" bIns="91425" anchor="t" anchorCtr="0">
            <a:noAutofit/>
          </a:bodyPr>
          <a:lstStyle/>
          <a:p>
            <a:pPr rtl="0">
              <a:spcBef>
                <a:spcPts val="0"/>
              </a:spcBef>
              <a:buNone/>
            </a:pPr>
            <a:r>
              <a:rPr lang="en" dirty="0"/>
              <a:t>How it can help resolve conflicts.</a:t>
            </a:r>
          </a:p>
          <a:p>
            <a:pPr rtl="0">
              <a:spcBef>
                <a:spcPts val="0"/>
              </a:spcBef>
              <a:buNone/>
            </a:pPr>
            <a:endParaRPr dirty="0"/>
          </a:p>
          <a:p>
            <a:pPr>
              <a:spcBef>
                <a:spcPts val="0"/>
              </a:spcBef>
              <a:buNone/>
            </a:pPr>
            <a:r>
              <a:rPr lang="en" sz="1800" dirty="0"/>
              <a:t>Team BirdFeedr</a:t>
            </a:r>
          </a:p>
        </p:txBody>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Shape 4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spcBef>
                <a:spcPts val="0"/>
              </a:spcBef>
              <a:buNone/>
            </a:pPr>
            <a:r>
              <a:rPr lang="en-US" dirty="0" smtClean="0"/>
              <a:t>C</a:t>
            </a:r>
            <a:r>
              <a:rPr lang="en" dirty="0" smtClean="0"/>
              <a:t>onflict</a:t>
            </a:r>
            <a:endParaRPr lang="en" dirty="0"/>
          </a:p>
        </p:txBody>
      </p:sp>
      <p:sp>
        <p:nvSpPr>
          <p:cNvPr id="43" name="Shape 43"/>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marL="457200" indent="-457200" rtl="0">
              <a:spcBef>
                <a:spcPts val="0"/>
              </a:spcBef>
              <a:buFont typeface="Arial"/>
              <a:buChar char="•"/>
            </a:pPr>
            <a:r>
              <a:rPr lang="en-US" dirty="0" smtClean="0"/>
              <a:t>Two</a:t>
            </a:r>
            <a:r>
              <a:rPr lang="en" dirty="0" smtClean="0"/>
              <a:t> </a:t>
            </a:r>
            <a:r>
              <a:rPr lang="en-US" dirty="0" smtClean="0"/>
              <a:t>exploration</a:t>
            </a:r>
            <a:r>
              <a:rPr lang="en-US" dirty="0" smtClean="0"/>
              <a:t> </a:t>
            </a:r>
            <a:r>
              <a:rPr lang="en" dirty="0" smtClean="0"/>
              <a:t>projects</a:t>
            </a:r>
            <a:r>
              <a:rPr lang="en-US" dirty="0" smtClean="0"/>
              <a:t> existed</a:t>
            </a:r>
            <a:r>
              <a:rPr lang="en" dirty="0" smtClean="0"/>
              <a:t>.</a:t>
            </a:r>
            <a:endParaRPr lang="en" dirty="0"/>
          </a:p>
          <a:p>
            <a:pPr marL="457200" indent="-457200" rtl="0">
              <a:spcBef>
                <a:spcPts val="0"/>
              </a:spcBef>
              <a:buFont typeface="Arial"/>
              <a:buChar char="•"/>
            </a:pPr>
            <a:r>
              <a:rPr lang="en" dirty="0"/>
              <a:t>One became larger than expected.</a:t>
            </a:r>
          </a:p>
          <a:p>
            <a:pPr marL="457200" indent="-457200">
              <a:spcBef>
                <a:spcPts val="0"/>
              </a:spcBef>
              <a:buFont typeface="Arial"/>
              <a:buChar char="•"/>
            </a:pPr>
            <a:r>
              <a:rPr lang="en-US" dirty="0" smtClean="0"/>
              <a:t>The t</a:t>
            </a:r>
            <a:r>
              <a:rPr lang="en" dirty="0" smtClean="0"/>
              <a:t>eam</a:t>
            </a:r>
            <a:r>
              <a:rPr lang="en-US" dirty="0" smtClean="0"/>
              <a:t> was</a:t>
            </a:r>
            <a:r>
              <a:rPr lang="en" dirty="0" smtClean="0"/>
              <a:t> </a:t>
            </a:r>
            <a:r>
              <a:rPr lang="en" dirty="0"/>
              <a:t>divided on what to do with the </a:t>
            </a:r>
            <a:r>
              <a:rPr lang="en" dirty="0" smtClean="0"/>
              <a:t>runaway</a:t>
            </a:r>
            <a:r>
              <a:rPr lang="en-US" dirty="0" smtClean="0"/>
              <a:t> </a:t>
            </a:r>
            <a:r>
              <a:rPr lang="en" dirty="0" smtClean="0"/>
              <a:t>project</a:t>
            </a:r>
            <a:r>
              <a:rPr lang="en" dirty="0"/>
              <a:t>.</a:t>
            </a:r>
          </a:p>
        </p:txBody>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spcBef>
                <a:spcPts val="0"/>
              </a:spcBef>
              <a:buNone/>
            </a:pPr>
            <a:r>
              <a:rPr lang="en-US" dirty="0" smtClean="0"/>
              <a:t>Resolution</a:t>
            </a:r>
            <a:endParaRPr lang="en" dirty="0"/>
          </a:p>
        </p:txBody>
      </p:sp>
      <p:sp>
        <p:nvSpPr>
          <p:cNvPr id="67" name="Shape 67"/>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marL="457200" indent="-457200" rtl="0">
              <a:spcBef>
                <a:spcPts val="0"/>
              </a:spcBef>
              <a:buFont typeface="Arial"/>
              <a:buChar char="•"/>
            </a:pPr>
            <a:r>
              <a:rPr lang="en-US" dirty="0" smtClean="0"/>
              <a:t>The vision statement reunited the team with a common ideal.</a:t>
            </a:r>
            <a:endParaRPr lang="en-US" dirty="0"/>
          </a:p>
          <a:p>
            <a:pPr marL="457200" indent="-457200" rtl="0">
              <a:spcBef>
                <a:spcPts val="0"/>
              </a:spcBef>
              <a:buFont typeface="Arial"/>
              <a:buChar char="•"/>
            </a:pPr>
            <a:r>
              <a:rPr lang="en-US" dirty="0" smtClean="0"/>
              <a:t>Comparison was made between the vision statement and the runaway project.</a:t>
            </a:r>
            <a:endParaRPr lang="en-US" dirty="0"/>
          </a:p>
          <a:p>
            <a:pPr marL="457200" indent="-457200" rtl="0">
              <a:spcBef>
                <a:spcPts val="0"/>
              </a:spcBef>
              <a:buFont typeface="Arial"/>
              <a:buChar char="•"/>
            </a:pPr>
            <a:r>
              <a:rPr lang="en-US" dirty="0" smtClean="0"/>
              <a:t>Decision was reached in which the runaway project did not “fit” the vision statement.</a:t>
            </a:r>
            <a:endParaRPr lang="en-US" dirty="0"/>
          </a:p>
        </p:txBody>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spcBef>
                <a:spcPts val="0"/>
              </a:spcBef>
              <a:buNone/>
            </a:pPr>
            <a:r>
              <a:rPr lang="en-US" dirty="0" smtClean="0"/>
              <a:t>Our V</a:t>
            </a:r>
            <a:r>
              <a:rPr lang="en" dirty="0" smtClean="0"/>
              <a:t>ision </a:t>
            </a:r>
            <a:r>
              <a:rPr lang="en-US" dirty="0"/>
              <a:t>S</a:t>
            </a:r>
            <a:r>
              <a:rPr lang="en" dirty="0" smtClean="0"/>
              <a:t>tatement</a:t>
            </a:r>
            <a:endParaRPr lang="en" dirty="0"/>
          </a:p>
        </p:txBody>
      </p:sp>
      <p:sp>
        <p:nvSpPr>
          <p:cNvPr id="79" name="Shape 79"/>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a:spcBef>
                <a:spcPts val="0"/>
              </a:spcBef>
              <a:buNone/>
            </a:pPr>
            <a:r>
              <a:rPr lang="en-US" dirty="0" smtClean="0"/>
              <a:t>“</a:t>
            </a:r>
            <a:r>
              <a:rPr lang="en" dirty="0" smtClean="0"/>
              <a:t>To </a:t>
            </a:r>
            <a:r>
              <a:rPr lang="en" dirty="0"/>
              <a:t>inspire people to reach their computer science dreams by providing tools that help them overcome the barriers to programming</a:t>
            </a:r>
            <a:r>
              <a:rPr lang="en" dirty="0" smtClean="0"/>
              <a:t>.</a:t>
            </a:r>
            <a:r>
              <a:rPr lang="en-US" dirty="0" smtClean="0"/>
              <a:t>”</a:t>
            </a:r>
          </a:p>
          <a:p>
            <a:pPr>
              <a:spcBef>
                <a:spcPts val="0"/>
              </a:spcBef>
              <a:buNone/>
            </a:pPr>
            <a:r>
              <a:rPr lang="en-US" dirty="0"/>
              <a:t>	</a:t>
            </a:r>
            <a:r>
              <a:rPr lang="en-US" dirty="0" smtClean="0"/>
              <a:t>				</a:t>
            </a:r>
            <a:r>
              <a:rPr lang="en-US" sz="1600" dirty="0" smtClean="0"/>
              <a:t>-Team </a:t>
            </a:r>
            <a:r>
              <a:rPr lang="en-US" sz="1600" dirty="0" err="1" smtClean="0"/>
              <a:t>BirdFeedr</a:t>
            </a:r>
            <a:endParaRPr lang="en" sz="1600" dirty="0"/>
          </a:p>
        </p:txBody>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xfrm>
            <a:off x="457200" y="205978"/>
            <a:ext cx="8229600" cy="857400"/>
          </a:xfrm>
          <a:prstGeom prst="rect">
            <a:avLst/>
          </a:prstGeom>
        </p:spPr>
        <p:txBody>
          <a:bodyPr lIns="91425" tIns="91425" rIns="91425" bIns="91425" anchor="b" anchorCtr="0">
            <a:noAutofit/>
          </a:bodyPr>
          <a:lstStyle/>
          <a:p>
            <a:pPr>
              <a:spcBef>
                <a:spcPts val="0"/>
              </a:spcBef>
              <a:buNone/>
            </a:pPr>
            <a:r>
              <a:rPr lang="en-US" sz="3000" dirty="0" smtClean="0"/>
              <a:t>Another Conflict Example</a:t>
            </a:r>
            <a:endParaRPr lang="en" sz="3000" dirty="0"/>
          </a:p>
        </p:txBody>
      </p:sp>
      <p:sp>
        <p:nvSpPr>
          <p:cNvPr id="73" name="Shape 73"/>
          <p:cNvSpPr txBox="1">
            <a:spLocks noGrp="1"/>
          </p:cNvSpPr>
          <p:nvPr>
            <p:ph type="body" idx="1"/>
          </p:nvPr>
        </p:nvSpPr>
        <p:spPr>
          <a:xfrm>
            <a:off x="457200" y="1200150"/>
            <a:ext cx="8229600" cy="3725699"/>
          </a:xfrm>
          <a:prstGeom prst="rect">
            <a:avLst/>
          </a:prstGeom>
        </p:spPr>
        <p:txBody>
          <a:bodyPr lIns="91425" tIns="91425" rIns="91425" bIns="91425" anchor="t" anchorCtr="0">
            <a:noAutofit/>
          </a:bodyPr>
          <a:lstStyle/>
          <a:p>
            <a:pPr marL="457200" indent="-457200" rtl="0">
              <a:spcBef>
                <a:spcPts val="0"/>
              </a:spcBef>
              <a:buFont typeface="Arial"/>
              <a:buChar char="•"/>
            </a:pPr>
            <a:r>
              <a:rPr lang="en-US" dirty="0" smtClean="0"/>
              <a:t>The team could not decide on a final project.</a:t>
            </a:r>
          </a:p>
          <a:p>
            <a:pPr marL="457200" indent="-457200" rtl="0">
              <a:spcBef>
                <a:spcPts val="0"/>
              </a:spcBef>
              <a:buFont typeface="Arial"/>
              <a:buChar char="•"/>
            </a:pPr>
            <a:r>
              <a:rPr lang="en-US" dirty="0" smtClean="0"/>
              <a:t>There were a lot of options on the table.</a:t>
            </a:r>
            <a:endParaRPr lang="en-US" dirty="0"/>
          </a:p>
        </p:txBody>
      </p:sp>
    </p:spTree>
  </p:cSld>
  <p:clrMapOvr>
    <a:masterClrMapping/>
  </p:clrMapOvr>
  <p:transition xmlns:p14="http://schemas.microsoft.com/office/powerpoint/2010/main" spd="slow">
    <p:cut/>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Resolution</a:t>
            </a:r>
            <a:endParaRPr lang="en-US" dirty="0"/>
          </a:p>
        </p:txBody>
      </p:sp>
      <p:sp>
        <p:nvSpPr>
          <p:cNvPr id="3" name="Text Placeholder 2"/>
          <p:cNvSpPr>
            <a:spLocks noGrp="1"/>
          </p:cNvSpPr>
          <p:nvPr>
            <p:ph type="body" idx="1"/>
          </p:nvPr>
        </p:nvSpPr>
        <p:spPr/>
        <p:txBody>
          <a:bodyPr/>
          <a:lstStyle/>
          <a:p>
            <a:pPr marL="457200" indent="-457200">
              <a:buFont typeface="Arial"/>
              <a:buChar char="•"/>
            </a:pPr>
            <a:r>
              <a:rPr lang="en" dirty="0"/>
              <a:t>We compared project ideas to the vision statement to see if </a:t>
            </a:r>
            <a:r>
              <a:rPr lang="en-US" dirty="0"/>
              <a:t>they </a:t>
            </a:r>
            <a:r>
              <a:rPr lang="en" dirty="0"/>
              <a:t>fit our vision.</a:t>
            </a:r>
            <a:endParaRPr lang="en-US" dirty="0"/>
          </a:p>
          <a:p>
            <a:pPr marL="457200" indent="-457200">
              <a:buFont typeface="Arial"/>
              <a:buChar char="•"/>
            </a:pPr>
            <a:r>
              <a:rPr lang="en-US" dirty="0"/>
              <a:t>This h</a:t>
            </a:r>
            <a:r>
              <a:rPr lang="en" dirty="0"/>
              <a:t>elped avoid </a:t>
            </a:r>
            <a:r>
              <a:rPr lang="en-US" dirty="0"/>
              <a:t>going in circles on what to deem the final project.</a:t>
            </a:r>
            <a:endParaRPr lang="en" dirty="0"/>
          </a:p>
          <a:p>
            <a:endParaRPr lang="en-US" dirty="0"/>
          </a:p>
        </p:txBody>
      </p:sp>
    </p:spTree>
    <p:extLst>
      <p:ext uri="{BB962C8B-B14F-4D97-AF65-F5344CB8AC3E}">
        <p14:creationId xmlns:p14="http://schemas.microsoft.com/office/powerpoint/2010/main" val="2613828108"/>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Text Placeholder 2"/>
          <p:cNvSpPr>
            <a:spLocks noGrp="1"/>
          </p:cNvSpPr>
          <p:nvPr>
            <p:ph type="body" idx="1"/>
          </p:nvPr>
        </p:nvSpPr>
        <p:spPr/>
        <p:txBody>
          <a:bodyPr/>
          <a:lstStyle/>
          <a:p>
            <a:pPr marL="457200" indent="-457200">
              <a:buFont typeface="Arial"/>
              <a:buChar char="•"/>
            </a:pPr>
            <a:r>
              <a:rPr lang="en-US" dirty="0" smtClean="0"/>
              <a:t>A vision statement helped our team resolve conflicts.</a:t>
            </a:r>
          </a:p>
          <a:p>
            <a:pPr marL="457200" indent="-457200">
              <a:buFont typeface="Arial"/>
              <a:buChar char="•"/>
            </a:pPr>
            <a:r>
              <a:rPr lang="en-US" dirty="0" smtClean="0"/>
              <a:t>If you find your team in conflict over project direction, consider looking at your vision statement to help resolve the conflict.</a:t>
            </a:r>
            <a:endParaRPr lang="en-US" dirty="0"/>
          </a:p>
        </p:txBody>
      </p:sp>
    </p:spTree>
    <p:extLst>
      <p:ext uri="{BB962C8B-B14F-4D97-AF65-F5344CB8AC3E}">
        <p14:creationId xmlns:p14="http://schemas.microsoft.com/office/powerpoint/2010/main" val="3590737247"/>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194</Words>
  <Application>Microsoft Macintosh PowerPoint</Application>
  <PresentationFormat>On-screen Show (16:9)</PresentationFormat>
  <Paragraphs>25</Paragraphs>
  <Slides>7</Slides>
  <Notes>5</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simple-light</vt:lpstr>
      <vt:lpstr>Vision Statements</vt:lpstr>
      <vt:lpstr>Conflict</vt:lpstr>
      <vt:lpstr>Resolution</vt:lpstr>
      <vt:lpstr>Our Vision Statement</vt:lpstr>
      <vt:lpstr>Another Conflict Example</vt:lpstr>
      <vt:lpstr>Resolution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statements</dc:title>
  <cp:lastModifiedBy>Information Technology Services</cp:lastModifiedBy>
  <cp:revision>8</cp:revision>
  <dcterms:modified xsi:type="dcterms:W3CDTF">2015-04-20T21:46:40Z</dcterms:modified>
</cp:coreProperties>
</file>